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开场白：今天不是给大家念合规条文，而是把 PCI DSS 翻译成产品、架构、运营三个人能听懂的语言。四个模块走完，大家应该能回答三件事：我们公司在 Scope 里吗？我们的产品选型把 PCI 成本压到最小了吗？真出事了我们怎么兜底？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PCI DSS 对很多人来说是年底突击一次的事，但其实它贯穿产品从 0 到 1 的每一个决策。选 Hosted Page 还是 Direct API，Scope 差十倍；要不要自建 Vault，合规成本差百万级。所以今天不讲条文，讲决策。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模块一解决三个问题：PCI DSS 到底是什么、你属于哪一级、你的 Scope 有多大。这三个问题答错了，后面全错。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这一页用来先纠正常见误解：PCI DSS 和支付牌照不是一回事。PCI 是卡组网络的安全准入要求，只要你处理、存储或传输持卡人数据，就必须满足。支付牌照是本地监管和经营许可问题，是否需要取决于具体国家地区、资金清结算方式和业务模式。讲清这个边界以后，再进入认证等级、SAQ 和 Scope，听众会更容易理解为什么 PCI 是底线，而不是牌照。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第一句是关键：很多团队把 PCI 当 ISO27001 那种通用安全清单来抄，错了。PCI 只看一件事：卡数据碰没碰。你公司有 200 个微服务，可能只有 5 个进 Scope：支付 API、Vault、DB、日志、跳板机。剩下 195 个只要网络隔离做好，跟 PCI 没关系。Hosted Page 还是 Direct API，产品定下来那一刻，未来三年的合规成本就定了。v4.0 的变化是要求持续监控、持续评估，日志告警变更管理都得自动化。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这里最容易混淆的是 SAQ 类型：它是产品形态决定的，不是安全团队选的。Hosted Page 走 SAQ A，iframe/Elements 走 SAQ A-EP，Direct API 走 SAQ D。你让商户从 D 降到 A-EP，合规工作量能少 80%。SP 和 Merchant 的区分也关键：帮自己收单是 Merchant，帮别人收单加存卡是 SP，Level 1 SP 必须 ROC 加 QSA 现场审。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 SAQ 判断讲成决策树。先问卡数据是否进入商户系统。如果完全不进入，Hosted Page 通常是 SAQ A。如果通过 iframe 或 Elements 嵌在商户页面，后端只拿 token，但支付页仍由商户控制，通常是 SAQ A-EP。如果卡号直接进入商户前后端，就是 Direct API，基本走 SAQ D。重点是 SAQ 不是安全团队想选哪个就选哪个，而是产品接入形态的结果。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是 QSA 最爱挑刺的地方。ELK 里一条错误日志打了完整 PAN，整个 ELK 集群进 CDE；APM 采了请求体，APM 进 CDE；客服后台截图里有卡号，客服系统进 CDE。降 Scope 的思路：能不碰就不碰，碰了就脱敏，脱敏不了就隔离，隔离不了就加密。CVV 是铁律：永远不存。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 Scope 页的放大版。CDE 核心区一般包括支付 API、Vault、PAN 数据库、KMS 或 HSM。但真正容易扩大 Scope 的，是外围系统：日志、APM、客服后台、BI、MQ、缓存、CI/CD。判断标准不是系统名字，而是它是否存储、处理、传输卡数据，或者能影响 CDE 安全。目标是让 CDE 核心区尽量小，外围系统通过脱敏、隔离、权限控制和变更控制挡在外面。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模块一告诉你要求是什么，模块二告诉你怎么设计能把合规成本转成业务收益。产品同学这部分重点听。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这一页放在支付产品形态之前，用来建立一个重要认知：钱、数据、责任不是同一条线。资金流讲的是清结算路径，卡数据流讲的是 PAN、token、授权数据经过哪里，责任流讲的是谁因为接触数据或影响 CDE 承担 PCI 控制要求。很多误判来自把这三条线混在一起。比如商户不直接清算资金，不代表不承担 PCI；商户使用 PSP，也不代表所有系统都自动出 Scope。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四种形态对应三种 SAQ，合规成本差一个数量级。Hosted Page 最省但跳转伤转化；Elements 是甜点区，前端要管 CSP/SRI；Direct API 除非有强理由，否则别碰。PayFac 平台做 Master Merchant，子商户不用单独收单，但平台要扛 PCI Level 1。Click to Pay 和 Passkey 的好处是卡数据存在卡组织或用户设备，商户连碰都碰不到。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这一页补模块二的关键认知：Passkey 和 Click to Pay 不是同一层能力。Passkey 解决身份认证，用 WebAuthn/FIDO2 让用户无密码登录，降低账号接管和钓鱼风险。Click to Pay 解决支付凭证和支付发起，卡号以网络 token 或卡组侧凭证存在卡组织或发卡行体系中，商户前端只发起支付请求，尽量不接触卡号。两者组合以后，用户体验是无密码登录加一键支付，合规效果是商户不存密码、不存卡号、不处理卡数据，PCI Scope 大幅收缩。这页也要强调：Passkey 不是支付本身，Click to Pay 也不是登录本身，它们分别解决身份和支付凭证问题。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CIT/MIT 是订阅、复购、一键支付的地基。首次必须 CIT + 3DS，建立授权；后续 MIT 必须带首次凭证，金额频率不能超授权范围。订阅业务最怕两件事：扣款失败重试没做好、卡过期没更新。Network Token 能解决卡过期自动换新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这一页用时序图讲订阅的合规逻辑。第一步是 CIT 首笔，用户在场，完成 3DS 或 SCA。第二步是 PSP 和发卡行返回授权结果。第三步是商户保存 token 或 agreement，注意不是保存卡号。第四步是后续 MIT，商户基于首次授权凭证发起续费或免密扣款。重点提醒：MIT 不是任意扣款，它必须引用首次凭证，金额、频率、场景不能超出用户授权范围。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是产品落地最核心的一页。四个维度判断：可逆性、跨 PSP、泄露风险、绑定粒度。Network Token 不只是安全，也是业务增长引擎：授权率提升、卡过期自动更新、绑定商户和设备。多 PSP 场景的痛点也在这里：PSP A 的 token 在 PSP B 用不了，所以多 PSP 策略往往倒逼独立 Vault 或 Network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 Network Token 的生命周期。先由商户或 PSP 请求 token，卡组织发放 Network Token，并绑定商户、设备或使用场景。授权时用 token 替代 PAN，降低卡号暴露面。卡过期、换卡、补卡时，卡组织可以自动更新 token，减少订阅扣款失败。多 PSP 场景下，Network Token 能缓解 PSP token 被某一家锁死的问题，但具体跨 PSP 能力仍取决于接入方式、地区和卡组织支持。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模块三给架构和工程同学。Vault 怎么选、密钥怎么管、前端支付页怎么防 Magecart、日志怎么脱敏。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Vault 选型看三件事：PSP 数量、交易量、团队能力。单 PSP 就用 PSP Vault；3 家以上 PSP 就要考虑独立 Vault 做编排。自建 Vault 的合规成本一年几十万到上百万起步，HSM/KMS、双人控制、渗透测试、审计，没专门团队别碰。第三方 Vault 是中间路线，选之前一定要看对方 AOC。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密钥管理的常见翻车点：硬编码进代码、密钥和密文同库、生产密钥拷到测试环境、邮件发密钥。分层和信封加密的重点是即使数据库被拖库，攻击者拿到的也是密文和被 KEK 包过的 DEK，没有 KEK 解不开。KEK 在 KMS/HSM，拖库没用。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前端这页很多人忽略。卡数据不走服务器也不代表安全，Magecart 直接在用户浏览器里偷。英航案例可以强调：22 行恶意代码，CDN 被篡改，22 天才发现。v4.0 的 6.4.2 和 6.4.3 是硬要求：支付页每个脚本都要有 inventory、authorization、integrity monitoring。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数据治理讲卡数据除了 CDE 里那份，其他副本在哪。ELK、APM trace、BI、客服截图、测试环境，每份都要追踪。AI 风控和数据最小化有冲突，解法包括 BIN 代 PAN、token 代用户键、用 PSP 风控分、合成数据训练。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最后一个模块给运营、运维、合规同学。研发测试怎么管、审计材料怎么备、出事了怎么响应。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这一页讲审计证据地图。PCI v4.0 的重点不是年底补材料，而是持续证明控制有效。核心材料包括 SAQ、AOC、ROC、ASV 扫描和渗透测试。运营证据包括变更记录、权限复核、安全测试修复闭环、事件响应演练记录。审计时最怕的是控制写在制度里，但没有执行证据。所以证据库要日常沉淀，最好和工单、CI/CD、扫描平台、权限系统打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研发这页的红线两条：测试环境真实卡、密钥进 Git。v4.0 新增的几条：三环境隔离、安全测试结果不能测完就扔、支付开发要有专项安全培训。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事件响应这页，时间线最关键：PAN 泄露多数卡组织要求 24 小时内通知，错过窗口罚金翻倍。CVV 被记录比 PAN 泄露更严重，因为存储 CVV 本身就是 PCI 禁止的。密钥泄露是最高级事件，等同于 PAN 泄露。v4.0 要求事件响应计划每年至少演练一次，关键人 24/7 联系得上，复盘报告保留三年。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收尾把今天的线串一下：PCI 很多人当合规负担，但它其实能转成业务收益。Network Token 提授权率，Token 编排撑多 PSP 路由，PayFac 撑商户规模化，Click to Pay/Passkey 降 Scope 还提转化。四个模块的逻辑链：合规判断告诉你要求是什么，产品落地告诉你怎么设计降成本，技术架构告诉你怎么落地，运营审计告诉你怎么持续证明做到了。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Microsoft YaHei"/>
              </a:rPr>
              <a:t>架构图版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PCI DSS 培训要点清单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用产品、架构、运营三种语言解释 PCI DSS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核心问题：是否进 Scope、怎样降成本、出事如何兜底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主线：合规判断 → 产品落地 → 技术架构 → 运营审计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325880"/>
            <a:ext cx="54406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16168" y="1371600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DSS 决策地图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1 合规判断
Level / SAQ /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2 产品落地
Token / PSP / CIT-MIT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3 技术架构
Vault / Key /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4 运营审计
Test / Access / IR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2139696"/>
            <a:ext cx="411480" cy="24688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933688" y="2852928"/>
            <a:ext cx="320040" cy="685800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18120" y="4014215"/>
            <a:ext cx="411480" cy="246888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793992" y="2852928"/>
            <a:ext cx="320040" cy="685800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4956048"/>
            <a:ext cx="3246120" cy="56692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目标：减少卡数据暴露面
把合规成本转成业务收益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目录 · 四大模块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1. 合规判断：等级、SAQ、Scope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2. 产品落地：接入方式、CIT/MIT、Token、多 PSP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3. 技术架构：Vault、密钥、前端安全、日志脱敏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4. 运营审计：客服、测试、权限、事件响应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54480"/>
            <a:ext cx="10058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328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Scope 是否进来</a:t>
            </a:r>
          </a:p>
        </p:txBody>
      </p:sp>
      <p:sp>
        <p:nvSpPr>
          <p:cNvPr id="7" name="Down Arrow 6"/>
          <p:cNvSpPr/>
          <p:nvPr/>
        </p:nvSpPr>
        <p:spPr>
          <a:xfrm>
            <a:off x="6126479" y="2084831"/>
            <a:ext cx="310896" cy="20116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1005840" cy="54864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怎样少碰卡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452360" y="2084831"/>
            <a:ext cx="310896" cy="20116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1554480"/>
            <a:ext cx="1005840" cy="54864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504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怎样隔离和加密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78240" y="2084831"/>
            <a:ext cx="310896" cy="20116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1005840" cy="548640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运营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怎样持续证明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104119" y="2084831"/>
            <a:ext cx="310896" cy="201168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3600" y="3977639"/>
            <a:ext cx="4617720" cy="384048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要求是什么 → 怎么降成本 → 怎么落地 → 怎么证明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800600"/>
            <a:ext cx="21031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持续合规运营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模块一：合规判断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是支付责任边界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先判断 Level / SAQ / 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这三件事答错，后面的产品和架构判断都会跑偏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一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PCI DSS 是什么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属于哪一级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Scope 有多大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补充：PCI 与支付牌照的定位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是卡组网络的安全底线，不是支付经营牌照。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信用卡收单不一定需要卡组监管牌照，但接触、处理、存储持卡人数据就必须满足 PCI DSS。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是否需要支付牌照，取决于当地法律、资金清结算参与方式和业务模式。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先分清监管资质与安全合规，再进入 Level、SAQ、Scope 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225296"/>
            <a:ext cx="58064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1271016"/>
            <a:ext cx="5586983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参考图：监管资质 vs 安全合规</a:t>
            </a:r>
          </a:p>
        </p:txBody>
      </p:sp>
      <p:pic>
        <p:nvPicPr>
          <p:cNvPr id="7" name="Picture 6" descr="pci_vs_payment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44752"/>
            <a:ext cx="490986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61888" y="5687568"/>
            <a:ext cx="4956048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讲解重点：PCI 是接入卡组网络的安全底线；支付牌照是本地经营许可，两者不是同一件事。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一、定位与边界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不是安全条文，是支付责任边界：谁接触卡数据、数据流经哪里、哪些系统进入 Scope。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目标不是过审计，是通过产品和架构设计把 PCI 范围降到最小。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核心变化：从年度大考变成持续运营。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98448"/>
            <a:ext cx="571500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44168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责任边界 /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买家浏览器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1481328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商户系统
API / DB /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PSP / 收单行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05472" y="2029968"/>
            <a:ext cx="3200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906256" y="2029968"/>
            <a:ext cx="3200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50608" y="2999232"/>
            <a:ext cx="2240280" cy="114300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3044951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892040"/>
            <a:ext cx="3931920" cy="47548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PCI v4.0
持续监控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二、认证等级与验证方式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要点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Level 1-4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按年交易量划分，Level 1 &gt;600 万笔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SP Level 1-2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 / 网关 / Vault 服务商身份判断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 A / A-EP / C /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由接入方式决定，不是安全团队决定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验证材料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SAQ、AOC、ROC、ASV 扫描、渗透测试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持续合规，非年度 snapshot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325880"/>
            <a:ext cx="5715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7160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认证判断链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交易量
Level 1-4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2200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身份
Merchant / SP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5644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接入方式
SAQ A / A-EP / C / 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材料
AOC / ROC / ASV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4069080" cy="65836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产品形态决定 SAQ
安全团队只能验证事实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983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Hosted Page → A    Elements → A-EP    Direct API →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补充：SAQ 决策树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SAQ 类型由接入方式决定，不是主观选择。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Hosted Page：卡数据不进入商户系统，通常走 SAQ A。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iframe / Elements：后端不碰卡，但支付页由商户承载，通常走 SAQ A-EP。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Direct API：卡数据进入商户系统，通常走 SAQ 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SAQ 决策树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691640"/>
            <a:ext cx="1600200" cy="65836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卡数据是否进入
商户系统？</a:t>
            </a:r>
          </a:p>
        </p:txBody>
      </p:sp>
      <p:sp>
        <p:nvSpPr>
          <p:cNvPr id="8" name="Down Arrow 7"/>
          <p:cNvSpPr/>
          <p:nvPr/>
        </p:nvSpPr>
        <p:spPr>
          <a:xfrm>
            <a:off x="8138160" y="2395728"/>
            <a:ext cx="347472" cy="320040"/>
          </a:xfrm>
          <a:prstGeom prst="down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60" y="2788920"/>
            <a:ext cx="141732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否：Hosted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788920"/>
            <a:ext cx="141732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部分：iframe / 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78892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是：Direct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88620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
商户最小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8620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A-EP
前端支付页担责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3886200"/>
            <a:ext cx="1143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D
完整 CDE 控制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601968" y="3337560"/>
            <a:ext cx="292608" cy="38404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366760" y="3337560"/>
            <a:ext cx="292608" cy="38404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966960" y="3337560"/>
            <a:ext cx="292608" cy="384048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4434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不是安全团队选择题，而是产品接入形态的结果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三、PCI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进 Scope 的不只是支付页：API、Vault、DB、缓存、MQ、日志、APM、BI、客服后台、CI/CD、跳板机。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常见盲区：错误日志含 PAN、APM 采请求体、客服截图、测试环境真实卡、风控同步未脱敏数据。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降 Scope 七件套：Hosted Page、iframe、PSP token 替 PAN、CDE 隔离、日志脱敏、最小权限、不存 CVV。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CDE 与旁路系统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2240280" cy="196596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874519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支付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跳板机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ELK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7091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CI/CD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29400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979408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160520"/>
            <a:ext cx="3429000" cy="47548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一条完整 PAN 日志
会把整套日志系统拉进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补充：CDE Scope 边界放大图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CDE 不只包含支付 API、Vault、PAN DB、KMS/HSM。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日志、APM、客服、BI、MQ、CI/CD 可能因为接触数据或影响 CDE 进入 Scope。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判断标准：是否存储、处理、传输卡数据，或能影响 CDE 安全。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设计目标：缩小 CDE 核心区，把外围系统通过脱敏、隔离和最小权限挡在外面。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CDE Scope 放大图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2148840" cy="196596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874519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 核心区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240280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支付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2240280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PAN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KMS/HSM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9164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日志 ELK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69164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APM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84048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客服后台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048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BI / 数仓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61772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MQ /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617720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CI/CD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29400" y="1865376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942832" y="1865376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629400" y="3995928"/>
            <a:ext cx="3200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942832" y="3995928"/>
            <a:ext cx="3200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5166360"/>
            <a:ext cx="461772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判断标准：是否存储、处理、传输卡数据，或能影响 CDE 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模块二：产品落地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把合规要求转成产品形态选择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 Token、Network Token、多 PSP 编排降低成本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产品决策决定未来几年的 PCI 成本曲线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二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接入方式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CIT / MIT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Tokenization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多 PSP 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补充：资金流 / 数据流 / 责任流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同一笔交易里，资金流、卡数据流、合规责任流不是同一条线。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资金可能由 PSP、收单机构、卡组织、发卡行清结算。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卡数据可能只经过卡组织或 PSP，也可能进入商户 CDE。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合规责任按角色和数据触点分配，不按资金路径简单判断。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资金流 / 数据流 / 责任流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691640"/>
            <a:ext cx="868680" cy="438912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资金流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69164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26679" y="1819656"/>
            <a:ext cx="347472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70848" y="1819656"/>
            <a:ext cx="347472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8048" y="169164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971800"/>
            <a:ext cx="868680" cy="438912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卡数据流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97180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26679" y="3099816"/>
            <a:ext cx="347472" cy="164592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6448" y="297180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70848" y="3099816"/>
            <a:ext cx="347472" cy="164592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8048" y="297180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251960"/>
            <a:ext cx="868680" cy="438912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合规责任流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4251960"/>
            <a:ext cx="73152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26679" y="4379976"/>
            <a:ext cx="34747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4251960"/>
            <a:ext cx="91440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/ 收单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70848" y="4379976"/>
            <a:ext cx="34747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8048" y="4251960"/>
            <a:ext cx="10515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卡组 / 发卡行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66360"/>
            <a:ext cx="443484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同一笔交易里，钱、卡数据、合规责任可能走不同路径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四、支付产品形态与 PCI 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形态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PCI 范围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Hosted Payment Page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最小（SAQ A）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跳转可接受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Embedded / Elements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小（SAQ A-EP）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前端担责，后端只拿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Direct API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最大（SAQ D）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自建风控 / 多 PSP 路由 / 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PayFac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平台扛 Level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子商户快速 onboarding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Click to Pay / Passkey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近零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 / FIDO2 托管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接入形态与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6420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Hosted Page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42631" y="1801368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66420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6420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67004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Elements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42631" y="2807208"/>
            <a:ext cx="502920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67004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A-EP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67004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前端担责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7588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Direct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42631" y="3813048"/>
            <a:ext cx="502920" cy="18288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367588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7588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54880"/>
            <a:ext cx="4343400" cy="6858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PayFac：平台扛 Level 1
Click to Pay / Passkey：卡组织或设备托管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sskey_click_to_pa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"/>
            <a:ext cx="6992835" cy="6446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五、CIT / MIT 与业务场景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CIT = 买家在场：首笔、3DS、SCA。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MIT = 商户发起：订阅续费、免密、分期。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绑卡：存 token 不存卡号，首笔必 CIT + 3DS。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订阅 = CIT 首笔 + MIT 后续，需维护授权凭证、重试、卡过期处理。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CIT / MIT 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CIT
买家在场
3DS / SCA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60920" y="2121408"/>
            <a:ext cx="5486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授权凭证
Token / Agreement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121408"/>
            <a:ext cx="5486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12680" y="1828800"/>
            <a:ext cx="91440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MIT
订阅续费
重试 / 过期更新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519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首次建立授权，后续不能超出授权范围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9204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订阅业务重点：扣款失败重试 + Network Token 卡过期自动更新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补充：3DS + CIT/MIT 时序图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首笔 CIT：用户在场，完成 3DS / SCA，建立授权。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PSP / 发卡行返回授权结果，商户保存 token 或 agreement。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后续 MIT：商户基于首次授权凭证发起续费或免密扣款。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关键约束：金额、频率、场景不能超出用户授权范围。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3DS + CIT/MIT 时序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用户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商户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5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3DS / 发卡行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78440" y="1600200"/>
            <a:ext cx="841248" cy="3657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Token / 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19" y="2057400"/>
            <a:ext cx="9144" cy="2743200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858000" y="2240280"/>
            <a:ext cx="1737359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CIT 首笔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2697480"/>
            <a:ext cx="10058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3DS/SCA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86800" y="3154680"/>
            <a:ext cx="10058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返回授权凭证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86800" y="3611880"/>
            <a:ext cx="210312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保存 token / agreement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89520" y="4251960"/>
            <a:ext cx="1005839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MIT 续费扣款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166360"/>
            <a:ext cx="4160520" cy="38404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首笔必须建立授权；后续 MIT 必须引用首次凭证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六、Tokenization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Token 类型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可逆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通常由 PSP 可逆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换 PSP 失效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是（经 Vault）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自建合规成本高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Network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卡组织发，授权率 +2~5%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Payment method 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绑定用户级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Token 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用户支付方式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1371600" cy="9601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Token Layer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79408" y="1856232"/>
            <a:ext cx="3200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token
换 PSP 失效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79408" y="2999232"/>
            <a:ext cx="32004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743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Merchant token
跨 PSP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79408" y="4142232"/>
            <a:ext cx="32004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886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Network token
授权率 +2~5%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834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多 PSP 策略会倒逼独立 Vault 或 Network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补充：Network Token 生命周期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商户或 PSP 向卡组织 token 服务请求 Network Token。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卡组织发放 token，并绑定商户、设备或使用场景。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授权时用 token 替代 PAN，降低卡号暴露面。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卡过期、换卡、补卡时 token 可自动更新。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多 PSP 场景下，Network Token 能降低 PSP token 锁定问题。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Network Token 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1 请求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2 卡组发放
Network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6596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3 授权交易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4 卡过期/换卡
自动更新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429000"/>
            <a:ext cx="1143000" cy="62179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5 多 PSP 路由
仍用同一凭证体系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14032" y="2176272"/>
            <a:ext cx="320040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8200" y="2176272"/>
            <a:ext cx="32004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189720" y="2651760"/>
            <a:ext cx="256032" cy="530352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58200" y="3639312"/>
            <a:ext cx="3200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4983480"/>
            <a:ext cx="4892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价值：少碰 PAN、卡生命周期自动更新、授权率提升、跨 PSP 更稳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模块三：技术架构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Vault 怎么选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前端支付页怎么防 Magecart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日志、客服、BI、AI 风控怎么做数据最小化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三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Card Vault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密钥管理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前端支付页安全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数据治理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七、Card Vault 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最低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单 PSP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第三方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多 PSP，不自建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大体量 + 强控制权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7212B"/>
                </a:solidFill>
                <a:latin typeface="Microsoft YaHei"/>
              </a:defRPr>
            </a:pPr>
            <a:r>
              <a:t>多 PSP 场景下，独立 Vault 的价值在编排：成本路由、授权率路由、容灾切换、卡类型路由。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Vault 编排架构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商户支付服务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2423160"/>
            <a:ext cx="1371600" cy="11430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独立 Vault
Token Map / PAN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97696" y="1865376"/>
            <a:ext cx="384048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64040" y="164592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A
低成本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97696" y="2916936"/>
            <a:ext cx="384048" cy="182880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269748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B
高授权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97696" y="3968496"/>
            <a:ext cx="384048" cy="18288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3749039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C
容灾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983480"/>
            <a:ext cx="46634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路由依据：成本 / 授权率 / 地区 / 卡类型 / 故障切换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八、密钥管理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分层模型：DEK → KEK → Master Key，每层只加密下一层。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信封加密：密文 + 加密后的 DEK 存 DB，KEK 在 KMS，密钥与密文分离。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HSM / KMS：加密 PAN 的密钥必须在 HSM 或等效设备中。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生命周期：生成 → 分发 → 使用 → 存储 → 轮换 → 吊销 → 销毁。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v4.0：密钥必须定期轮换，轮换策略必须有文档。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密钥分层与信封加密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91640"/>
            <a:ext cx="164592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Master Key
HSM / KMS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494776" y="2313432"/>
            <a:ext cx="292608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2560320"/>
            <a:ext cx="23774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KEK
包 DEK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494776" y="3182112"/>
            <a:ext cx="292608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3429000"/>
            <a:ext cx="32918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DEK
加密 PAN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DB：密文 + 加密后的 DEK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KMS：KEK 与轮换策略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28431" y="4553712"/>
            <a:ext cx="566928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九、前端支付页安全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威胁：Magecart 恶意 JS 窃卡。英航 2018，22 行代码跑 22 天，38 万卡号泄露。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风险来源：广告脚本、埋点 SDK、客服浮窗、A/B 工具、CDN 篡改。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控制：CSP + SRI + 脚本白名单 + 变更审批 + 完整性监控。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6.4.3：支付页所有脚本必须有清单、有授权、有完整性监控。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支付页脚本治理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514600"/>
            <a:ext cx="123444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用户浏览器
Payment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广告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埋点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客服浮窗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A/B 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2148840" cy="82296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CSP / SRI
清单 / 授权 / 完整性监控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2816352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156448" y="2011680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56448" y="4187952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983480"/>
            <a:ext cx="4434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v4.0 6.4.3：支付页所有脚本必须可证明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十、数据治理（日志 / 客服 / BI / AI 风控）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日志：全链路不记录 PAN/CVV，正则脱敏，权限 + 留存周期。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客服：只展示后四位 + 卡品牌，全量审计，权限拆分。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BI/数仓：PAN → token/hash，CVV 不进，BIN 可进。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AI 风控 vs 数据最小化：用 BIN / token / PSP 风控分 / 合成数据平衡。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v4.0：数据发现分类、留存处置策略、访问权限定期复核。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数据最小化管道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91440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支付事件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880360"/>
            <a:ext cx="384048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2423160"/>
            <a:ext cx="1508760" cy="10972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脱敏网关
PAN→token/hash
CVV 丢弃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87968" y="1755648"/>
            <a:ext cx="384048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日志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87968" y="2670048"/>
            <a:ext cx="384048" cy="146304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5146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87968" y="3584448"/>
            <a:ext cx="384048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4290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87968" y="4498848"/>
            <a:ext cx="384048" cy="146304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43434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AI 风控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83480"/>
            <a:ext cx="4526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查找所有副本：ELK / APM / BI / 截图 / 测试环境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模块四：运营审计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研发测试怎么管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审计材料怎么备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出事以后怎么响应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持续证明控制有效，而不是年底突击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四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研发与测试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审计材料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事件响应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补充：审计证据地图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审计不是年底补材料，而是日常证据持续沉淀。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核心材料：SAQ、AOC、ROC、ASV 扫描、渗透测试。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运营证据：变更记录、权限复核、安全测试修复闭环、事件演练记录。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目标：能证明控制持续有效，而不是只证明某一天有效。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审计证据地图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43200"/>
            <a:ext cx="1417320" cy="713232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PCI 证据库
持续收集 / 可追溯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SAQ / AOC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ROC / QSA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69164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ASV 扫描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渗透测试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变更记录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4343400"/>
            <a:ext cx="100584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权限复核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67728" y="1920240"/>
            <a:ext cx="914400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12480" y="2194560"/>
            <a:ext cx="146304" cy="43891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372600" y="1920240"/>
            <a:ext cx="41148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967728" y="4526280"/>
            <a:ext cx="914400" cy="146304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412480" y="3886200"/>
            <a:ext cx="146304" cy="43891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372600" y="4526280"/>
            <a:ext cx="411480" cy="146304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5166360"/>
            <a:ext cx="4297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v4.0 重点：不是年底补材料，而是持续证明控制有效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十一、研发与测试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测试环境：禁真实卡，用 PSP 测试卡或脱敏仿真数据。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密钥：不进 Git，Secrets Manager，进了立即轮换。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CI/CD：支付代码更严变更控制，影响 CDE 的变更须正式流程。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安全测试：SAST + DAST + SCA + ASV 扫描 + 渗透测试 + 支付页完整性检测。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v4.0：开发/测试/生产隔离，安全测试结果须跟踪修复，支付开发须专项培训。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研发测试控制链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代码
Secrets
不进 Git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359152"/>
            <a:ext cx="256032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96328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CI/CD
变更控制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2359152"/>
            <a:ext cx="256032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03336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测试
测试卡
仿真数据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5167" y="2359152"/>
            <a:ext cx="25603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10344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生产
CDE 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44805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SAST / DAST / SCA / ASV / 渗透测试 / 支付页完整性检测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920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安全测试结果必须跟踪修复；支付开发需要专项培训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十二、审计与事件响应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关键动作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PAN 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24h 内通知 PSP/收单行/卡组织，取证 + 根因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CVV 被记录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更严重，本身违规，立即删 + 全面排查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密钥泄露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立即轮换 + 重加密 + 等同 PAN 泄露处置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支付页 JS 篡改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下线页面 + 取证 + 清理 + 加强 CSP/SRI 后上线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事件响应计划每年演练，关键人 24/7 可达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事件响应时间线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788920"/>
            <a:ext cx="4526280" cy="274320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发现 → 隔离 → 通知 → 取证 → 修复 → 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0h
下线/隔离</a:t>
            </a:r>
          </a:p>
        </p:txBody>
      </p:sp>
      <p:sp>
        <p:nvSpPr>
          <p:cNvPr id="9" name="Down Arrow 8"/>
          <p:cNvSpPr/>
          <p:nvPr/>
        </p:nvSpPr>
        <p:spPr>
          <a:xfrm>
            <a:off x="6409944" y="2487168"/>
            <a:ext cx="256032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24h
通知 PSP/收单行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690104" y="2487168"/>
            <a:ext cx="256032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48h+
取证根因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61704" y="2487168"/>
            <a:ext cx="256032" cy="256032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2124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演练
报告保留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50424" y="2487168"/>
            <a:ext cx="256032" cy="256032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251960"/>
            <a:ext cx="4160520" cy="50292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CVV 被记录、密钥泄露都按高危事件处理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培训主线 · 收尾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不只是把卡数据暴露面降到最小。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通过 Network Token、Token 编排、PayFac、Click to Pay / Passkey，把合规成本转化为业务收益。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业务收益：授权率提升、churn 降低、多 PSP 容灾、商户规模化覆盖。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四个模块逻辑：要求是什么 → 怎么设计降成本 → 怎么落地 → 怎么证明做到了。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业务收益闭环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43200"/>
            <a:ext cx="1325880" cy="7315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降低 Scope
提升韧性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Network Token
授权率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Token 编排
多 PSP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PayFac
规模化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Passkey / C2P
少碰卡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35240" y="1975104"/>
            <a:ext cx="41148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924544" y="1975104"/>
            <a:ext cx="41148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35240" y="4553712"/>
            <a:ext cx="41148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924544" y="4553712"/>
            <a:ext cx="411480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